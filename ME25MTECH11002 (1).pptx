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1A87E-5705-4DA0-B5BB-EF671066400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98CD7-F5CD-4531-A11B-C0DED5D85B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09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64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34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439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25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100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55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80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93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51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9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562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57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C3B5E-69F3-4FB9-97EF-6FBBEE76FB1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71A85-018C-4BAC-B546-56F154B3F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61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1758817" y="6549762"/>
            <a:ext cx="321398" cy="32139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l="23031" t="12642" r="21364" b="13219"/>
          <a:stretch/>
        </p:blipFill>
        <p:spPr>
          <a:xfrm>
            <a:off x="111785" y="6536601"/>
            <a:ext cx="321399" cy="321399"/>
          </a:xfrm>
          <a:prstGeom prst="ellipse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1782945" y="6562436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910393" y="288978"/>
            <a:ext cx="10366183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8B20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Element Methods Lab</a:t>
            </a:r>
            <a:endParaRPr sz="2800" b="1" u="sng" dirty="0">
              <a:solidFill>
                <a:srgbClr val="8B20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272741" y="2166319"/>
            <a:ext cx="11585172" cy="1696990"/>
            <a:chOff x="441256" y="2061803"/>
            <a:chExt cx="9449119" cy="1696991"/>
          </a:xfrm>
        </p:grpSpPr>
        <p:sp>
          <p:nvSpPr>
            <p:cNvPr id="94" name="Google Shape;94;p1"/>
            <p:cNvSpPr txBox="1"/>
            <p:nvPr/>
          </p:nvSpPr>
          <p:spPr>
            <a:xfrm>
              <a:off x="2071481" y="2061803"/>
              <a:ext cx="781889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>
                <a:lnSpc>
                  <a:spcPct val="150000"/>
                </a:lnSpc>
              </a:pPr>
              <a:endParaRPr sz="1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5" name="Google Shape;95;p1"/>
            <p:cNvGrpSpPr/>
            <p:nvPr/>
          </p:nvGrpSpPr>
          <p:grpSpPr>
            <a:xfrm>
              <a:off x="441256" y="2290024"/>
              <a:ext cx="8547399" cy="1468770"/>
              <a:chOff x="441256" y="2290024"/>
              <a:chExt cx="8547399" cy="1468770"/>
            </a:xfrm>
          </p:grpSpPr>
          <p:pic>
            <p:nvPicPr>
              <p:cNvPr id="96" name="Google Shape;96;p1" descr="IITH Logo Design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41256" y="2290024"/>
                <a:ext cx="1457230" cy="14673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" name="Google Shape;97;p1"/>
              <p:cNvSpPr/>
              <p:nvPr/>
            </p:nvSpPr>
            <p:spPr>
              <a:xfrm rot="5400000">
                <a:off x="1288871" y="3033935"/>
                <a:ext cx="1404000" cy="45719"/>
              </a:xfrm>
              <a:prstGeom prst="rect">
                <a:avLst/>
              </a:prstGeom>
              <a:solidFill>
                <a:srgbClr val="8B20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" name="Google Shape;98;p1"/>
              <p:cNvCxnSpPr/>
              <p:nvPr/>
            </p:nvCxnSpPr>
            <p:spPr>
              <a:xfrm>
                <a:off x="2071481" y="2592280"/>
                <a:ext cx="6693225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9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99" name="Google Shape;99;p1"/>
              <p:cNvSpPr txBox="1"/>
              <p:nvPr/>
            </p:nvSpPr>
            <p:spPr>
              <a:xfrm>
                <a:off x="1968010" y="2607923"/>
                <a:ext cx="7020645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Dept. of Mechanical &amp; Aerospace Engineering, IIT Hyderabad</a:t>
                </a:r>
                <a:endParaRPr dirty="0">
                  <a:solidFill>
                    <a:srgbClr val="002060"/>
                  </a:solidFill>
                </a:endParaRPr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Course Instructor: Dr. </a:t>
                </a:r>
                <a:r>
                  <a:rPr lang="en-US" sz="2000" dirty="0" err="1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Muvvala</a:t>
                </a:r>
                <a:r>
                  <a:rPr lang="en-US" sz="20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Gopinath</a:t>
                </a:r>
                <a:endParaRPr sz="2000" b="1" dirty="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00" name="Google Shape;100;p1"/>
          <p:cNvGrpSpPr/>
          <p:nvPr/>
        </p:nvGrpSpPr>
        <p:grpSpPr>
          <a:xfrm>
            <a:off x="9916980" y="4374397"/>
            <a:ext cx="2002536" cy="2002536"/>
            <a:chOff x="6918453" y="4648570"/>
            <a:chExt cx="2209430" cy="2209430"/>
          </a:xfrm>
        </p:grpSpPr>
        <p:sp>
          <p:nvSpPr>
            <p:cNvPr id="101" name="Google Shape;101;p1"/>
            <p:cNvSpPr/>
            <p:nvPr/>
          </p:nvSpPr>
          <p:spPr>
            <a:xfrm>
              <a:off x="6918453" y="4648570"/>
              <a:ext cx="2209430" cy="2209430"/>
            </a:xfrm>
            <a:prstGeom prst="ellipse">
              <a:avLst/>
            </a:prstGeom>
            <a:solidFill>
              <a:schemeClr val="lt1"/>
            </a:solidFill>
            <a:ln w="34925" cap="flat" cmpd="sng">
              <a:solidFill>
                <a:srgbClr val="8C1F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" name="Google Shape;102;p1"/>
            <p:cNvGrpSpPr/>
            <p:nvPr/>
          </p:nvGrpSpPr>
          <p:grpSpPr>
            <a:xfrm>
              <a:off x="7148363" y="5259492"/>
              <a:ext cx="1884772" cy="1051114"/>
              <a:chOff x="6775505" y="5081896"/>
              <a:chExt cx="2311935" cy="1289339"/>
            </a:xfrm>
          </p:grpSpPr>
          <p:pic>
            <p:nvPicPr>
              <p:cNvPr id="103" name="Google Shape;103;p1"/>
              <p:cNvPicPr preferRelativeResize="0"/>
              <p:nvPr/>
            </p:nvPicPr>
            <p:blipFill rotWithShape="1">
              <a:blip r:embed="rId5">
                <a:alphaModFix/>
              </a:blip>
              <a:srcRect l="10836" t="2254" r="24405" b="568"/>
              <a:stretch/>
            </p:blipFill>
            <p:spPr>
              <a:xfrm>
                <a:off x="7809710" y="5093504"/>
                <a:ext cx="1277730" cy="1277731"/>
              </a:xfrm>
              <a:prstGeom prst="ellipse">
                <a:avLst/>
              </a:prstGeom>
              <a:noFill/>
              <a:ln w="28575" cap="flat" cmpd="sng">
                <a:solidFill>
                  <a:srgbClr val="EF4023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104" name="Google Shape;104;p1"/>
              <p:cNvPicPr preferRelativeResize="0"/>
              <p:nvPr/>
            </p:nvPicPr>
            <p:blipFill rotWithShape="1">
              <a:blip r:embed="rId6">
                <a:alphaModFix/>
              </a:blip>
              <a:srcRect l="-16033" t="-5679" r="-17775" b="-26804"/>
              <a:stretch/>
            </p:blipFill>
            <p:spPr>
              <a:xfrm>
                <a:off x="6775505" y="5081896"/>
                <a:ext cx="1277730" cy="1277729"/>
              </a:xfrm>
              <a:prstGeom prst="ellipse">
                <a:avLst/>
              </a:prstGeom>
              <a:solidFill>
                <a:schemeClr val="lt1"/>
              </a:solidFill>
              <a:ln w="28575" cap="flat" cmpd="sng">
                <a:solidFill>
                  <a:srgbClr val="EF4023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</p:grpSp>
      </p:grpSp>
      <p:sp>
        <p:nvSpPr>
          <p:cNvPr id="2" name="TextBox 1"/>
          <p:cNvSpPr txBox="1"/>
          <p:nvPr/>
        </p:nvSpPr>
        <p:spPr>
          <a:xfrm>
            <a:off x="4825715" y="4488311"/>
            <a:ext cx="519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BARATH.I</a:t>
            </a:r>
          </a:p>
          <a:p>
            <a:r>
              <a:rPr lang="en-IN" dirty="0" smtClean="0"/>
              <a:t>ME25MTECH11002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654042" y="2011182"/>
            <a:ext cx="2530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 smtClean="0"/>
              <a:t>Laser Forming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8609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" t="-316" r="-947" b="316"/>
          <a:stretch/>
        </p:blipFill>
        <p:spPr>
          <a:xfrm>
            <a:off x="170005" y="407324"/>
            <a:ext cx="12032039" cy="554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1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134390"/>
              </p:ext>
            </p:extLst>
          </p:nvPr>
        </p:nvGraphicFramePr>
        <p:xfrm>
          <a:off x="168910" y="508130"/>
          <a:ext cx="3441700" cy="1400175"/>
        </p:xfrm>
        <a:graphic>
          <a:graphicData uri="http://schemas.openxmlformats.org/drawingml/2006/table">
            <a:tbl>
              <a:tblPr/>
              <a:tblGrid>
                <a:gridCol w="1433777">
                  <a:extLst>
                    <a:ext uri="{9D8B030D-6E8A-4147-A177-3AD203B41FA5}">
                      <a16:colId xmlns:a16="http://schemas.microsoft.com/office/drawing/2014/main" val="337667309"/>
                    </a:ext>
                  </a:extLst>
                </a:gridCol>
                <a:gridCol w="1018236">
                  <a:extLst>
                    <a:ext uri="{9D8B030D-6E8A-4147-A177-3AD203B41FA5}">
                      <a16:colId xmlns:a16="http://schemas.microsoft.com/office/drawing/2014/main" val="3476773606"/>
                    </a:ext>
                  </a:extLst>
                </a:gridCol>
                <a:gridCol w="989687">
                  <a:extLst>
                    <a:ext uri="{9D8B030D-6E8A-4147-A177-3AD203B41FA5}">
                      <a16:colId xmlns:a16="http://schemas.microsoft.com/office/drawing/2014/main" val="191949100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Young's modulus (N/m²)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Poission Ratio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Temperature (K)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62858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1.94E+11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9897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1.84E+11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0341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1.68E+11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0533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1.3E+11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6891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73000000000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3926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16919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967068"/>
              </p:ext>
            </p:extLst>
          </p:nvPr>
        </p:nvGraphicFramePr>
        <p:xfrm>
          <a:off x="4076671" y="4639295"/>
          <a:ext cx="1930400" cy="1400175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313500511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80287619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Density (Kg/m³)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Temperature (K)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7166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346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6365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629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1782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1655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9807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235780"/>
              </p:ext>
            </p:extLst>
          </p:nvPr>
        </p:nvGraphicFramePr>
        <p:xfrm>
          <a:off x="3590549" y="737156"/>
          <a:ext cx="4089400" cy="3400425"/>
        </p:xfrm>
        <a:graphic>
          <a:graphicData uri="http://schemas.openxmlformats.org/drawingml/2006/table">
            <a:tbl>
              <a:tblPr/>
              <a:tblGrid>
                <a:gridCol w="875620">
                  <a:extLst>
                    <a:ext uri="{9D8B030D-6E8A-4147-A177-3AD203B41FA5}">
                      <a16:colId xmlns:a16="http://schemas.microsoft.com/office/drawing/2014/main" val="109632648"/>
                    </a:ext>
                  </a:extLst>
                </a:gridCol>
                <a:gridCol w="1065972">
                  <a:extLst>
                    <a:ext uri="{9D8B030D-6E8A-4147-A177-3AD203B41FA5}">
                      <a16:colId xmlns:a16="http://schemas.microsoft.com/office/drawing/2014/main" val="3636450083"/>
                    </a:ext>
                  </a:extLst>
                </a:gridCol>
                <a:gridCol w="583747">
                  <a:extLst>
                    <a:ext uri="{9D8B030D-6E8A-4147-A177-3AD203B41FA5}">
                      <a16:colId xmlns:a16="http://schemas.microsoft.com/office/drawing/2014/main" val="3297397786"/>
                    </a:ext>
                  </a:extLst>
                </a:gridCol>
                <a:gridCol w="980314">
                  <a:extLst>
                    <a:ext uri="{9D8B030D-6E8A-4147-A177-3AD203B41FA5}">
                      <a16:colId xmlns:a16="http://schemas.microsoft.com/office/drawing/2014/main" val="36175859"/>
                    </a:ext>
                  </a:extLst>
                </a:gridCol>
                <a:gridCol w="583747">
                  <a:extLst>
                    <a:ext uri="{9D8B030D-6E8A-4147-A177-3AD203B41FA5}">
                      <a16:colId xmlns:a16="http://schemas.microsoft.com/office/drawing/2014/main" val="260007081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Yield </a:t>
                      </a:r>
                      <a:r>
                        <a:rPr lang="en-IN" sz="1000" b="1" i="0" u="none" strike="noStrike" dirty="0" err="1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stess</a:t>
                      </a:r>
                      <a:r>
                        <a:rPr lang="en-IN" sz="1000" b="1" i="0" u="none" strike="noStrike" dirty="0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 (N/m²)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Strain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Temperature (K)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9855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293000000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5416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336200000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9479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4036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294400000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9784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5735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255000000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3145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181000000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6589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225100000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843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157000000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57739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198400000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0786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30122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192300000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7263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129000000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8391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153990000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3103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3869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67200000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976997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058923"/>
              </p:ext>
            </p:extLst>
          </p:nvPr>
        </p:nvGraphicFramePr>
        <p:xfrm>
          <a:off x="168910" y="2229185"/>
          <a:ext cx="2451100" cy="1600200"/>
        </p:xfrm>
        <a:graphic>
          <a:graphicData uri="http://schemas.openxmlformats.org/drawingml/2006/table">
            <a:tbl>
              <a:tblPr/>
              <a:tblGrid>
                <a:gridCol w="1433243">
                  <a:extLst>
                    <a:ext uri="{9D8B030D-6E8A-4147-A177-3AD203B41FA5}">
                      <a16:colId xmlns:a16="http://schemas.microsoft.com/office/drawing/2014/main" val="2264524178"/>
                    </a:ext>
                  </a:extLst>
                </a:gridCol>
                <a:gridCol w="1017857">
                  <a:extLst>
                    <a:ext uri="{9D8B030D-6E8A-4147-A177-3AD203B41FA5}">
                      <a16:colId xmlns:a16="http://schemas.microsoft.com/office/drawing/2014/main" val="144456335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03567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Conductivity (W/</a:t>
                      </a:r>
                      <a:r>
                        <a:rPr lang="en-IN" sz="1000" b="1" i="0" u="none" strike="noStrike" dirty="0" err="1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mK</a:t>
                      </a:r>
                      <a:r>
                        <a:rPr lang="en-IN" sz="1000" b="1" i="0" u="none" strike="noStrike" dirty="0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Temperature (K)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21153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165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5442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7414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009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172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43883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42427"/>
              </p:ext>
            </p:extLst>
          </p:nvPr>
        </p:nvGraphicFramePr>
        <p:xfrm>
          <a:off x="-648451" y="3924920"/>
          <a:ext cx="3848100" cy="211455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962231166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30433134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69074135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78918917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Sp.Heat (J/KgK)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Temperature (K)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26966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35812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914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2524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6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0699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3639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3512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00424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54278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089963"/>
              </p:ext>
            </p:extLst>
          </p:nvPr>
        </p:nvGraphicFramePr>
        <p:xfrm>
          <a:off x="8070849" y="886195"/>
          <a:ext cx="2451100" cy="2044220"/>
        </p:xfrm>
        <a:graphic>
          <a:graphicData uri="http://schemas.openxmlformats.org/drawingml/2006/table">
            <a:tbl>
              <a:tblPr/>
              <a:tblGrid>
                <a:gridCol w="1433243">
                  <a:extLst>
                    <a:ext uri="{9D8B030D-6E8A-4147-A177-3AD203B41FA5}">
                      <a16:colId xmlns:a16="http://schemas.microsoft.com/office/drawing/2014/main" val="224844351"/>
                    </a:ext>
                  </a:extLst>
                </a:gridCol>
                <a:gridCol w="1017857">
                  <a:extLst>
                    <a:ext uri="{9D8B030D-6E8A-4147-A177-3AD203B41FA5}">
                      <a16:colId xmlns:a16="http://schemas.microsoft.com/office/drawing/2014/main" val="262333603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522055"/>
                  </a:ext>
                </a:extLst>
              </a:tr>
              <a:tr h="24399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</a:rPr>
                        <a:t>Expansion (/K)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Temperature (K)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4267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1.60E-05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0411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1.70E-05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808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1.90E-05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07288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2.00E-05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1950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2.10E-05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3794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2.30E-05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25972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2733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548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822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1" b="37142"/>
          <a:stretch/>
        </p:blipFill>
        <p:spPr>
          <a:xfrm>
            <a:off x="274320" y="1421448"/>
            <a:ext cx="8404168" cy="2743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393" y="482138"/>
            <a:ext cx="445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LASER PARAMERETS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977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07" y="892101"/>
            <a:ext cx="5314348" cy="23371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18" y="4032593"/>
            <a:ext cx="5607210" cy="24347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116" y="940074"/>
            <a:ext cx="5060713" cy="21919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076" y="448887"/>
            <a:ext cx="420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MESHING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666807" y="349135"/>
            <a:ext cx="4788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LOADING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38307" y="3441654"/>
            <a:ext cx="485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PARTITION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583" y="4032593"/>
            <a:ext cx="5546692" cy="24347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1583" y="3441654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TEMPERATURE DISTRIBUTION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72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31" y="716643"/>
            <a:ext cx="6849687" cy="29833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814" y="474529"/>
            <a:ext cx="2187606" cy="35948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5513" y="182880"/>
            <a:ext cx="406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BENDING ANGLE CALCULATION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16131" y="4069408"/>
            <a:ext cx="7705898" cy="12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stage → thermal expansion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Sudden drop → plastic deformation starts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Plateau → residual bending achieved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stage → cooling completes deformation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069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923" y="3232438"/>
            <a:ext cx="2219325" cy="476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923" y="4279842"/>
            <a:ext cx="1971675" cy="476250"/>
          </a:xfrm>
          <a:prstGeom prst="rect">
            <a:avLst/>
          </a:prstGeom>
        </p:spPr>
      </p:pic>
      <p:sp>
        <p:nvSpPr>
          <p:cNvPr id="4" name="Right Triangle 3"/>
          <p:cNvSpPr/>
          <p:nvPr/>
        </p:nvSpPr>
        <p:spPr>
          <a:xfrm>
            <a:off x="4579014" y="976745"/>
            <a:ext cx="3408218" cy="135497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876203" y="1354974"/>
            <a:ext cx="262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DISPLACEMENT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370022" y="2593571"/>
            <a:ext cx="3557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LENGTH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197" y="5427345"/>
            <a:ext cx="86677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97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78" y="1054229"/>
            <a:ext cx="11396749" cy="24986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8392" y="281364"/>
            <a:ext cx="372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TEMPERATURE VS TIME</a:t>
            </a:r>
            <a:endParaRPr lang="en-IN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22218" y="452224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73578" y="3747531"/>
            <a:ext cx="485895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temperature ≈ 300 K (room temperature)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peak temperature ≈ 780–800 K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peak temperature ≈ 820–840 K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region stabilizes around 350–400 K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rise is very sharp (transient heating)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0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7447" y="515389"/>
            <a:ext cx="6932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STRESS VS TIME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90" y="1128916"/>
            <a:ext cx="11488189" cy="23208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7447" y="41339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Surface (Laser Side)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 compressive stress during heating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Due to rapid thermal expansion at surface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to tensile stress during cooling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73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6502" y="1087227"/>
            <a:ext cx="1081193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laser power of 300 W produces sufficient localized heating to induce controlled plastic deformation in the thin sheet.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temperature profile shows rapid heating up to ~800–850 K, followed by gradual cooling, confirming a strong thermal gradient through thickness.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thermal gradient activates the Temperature Gradient Mechanism (TGM), which is the dominant mechanism for bending in thin sheets.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6502" y="322248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surface (laser side):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stress during heating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Tensile stress during cooling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Bottom surface: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Tensile during heating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after cooling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Peak stress values reach approximately ±200–250 MPa, indicating plastic deformation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6967" y="687117"/>
            <a:ext cx="5835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5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472</Words>
  <Application>Microsoft Office PowerPoint</Application>
  <PresentationFormat>Widescreen</PresentationFormat>
  <Paragraphs>183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18</cp:revision>
  <dcterms:created xsi:type="dcterms:W3CDTF">2026-04-22T12:25:43Z</dcterms:created>
  <dcterms:modified xsi:type="dcterms:W3CDTF">2026-04-22T14:56:55Z</dcterms:modified>
</cp:coreProperties>
</file>